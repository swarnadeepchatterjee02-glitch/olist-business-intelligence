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266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garden_tools</c:v>
                  </c:pt>
                  <c:pt idx="1">
                    <c:v>auto</c:v>
                  </c:pt>
                  <c:pt idx="2">
                    <c:v>housewares</c:v>
                  </c:pt>
                  <c:pt idx="3">
                    <c:v>cool_stuff</c:v>
                  </c:pt>
                  <c:pt idx="4">
                    <c:v>furniture</c:v>
                  </c:pt>
                  <c:pt idx="5">
                    <c:v>computers</c:v>
                  </c:pt>
                  <c:pt idx="6">
                    <c:v>sports</c:v>
                  </c:pt>
                  <c:pt idx="7">
                    <c:v>bed_bath</c:v>
                  </c:pt>
                  <c:pt idx="8">
                    <c:v>watches</c:v>
                  </c:pt>
                  <c:pt idx="9">
                    <c:v>health_beauty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485256</c:v>
                </c:pt>
                <c:pt idx="1">
                  <c:v>592720</c:v>
                </c:pt>
                <c:pt idx="2">
                  <c:v>632248</c:v>
                </c:pt>
                <c:pt idx="3">
                  <c:v>635290</c:v>
                </c:pt>
                <c:pt idx="4">
                  <c:v>729762</c:v>
                </c:pt>
                <c:pt idx="5">
                  <c:v>911954</c:v>
                </c:pt>
                <c:pt idx="6">
                  <c:v>988048</c:v>
                </c:pt>
                <c:pt idx="7">
                  <c:v>1036988</c:v>
                </c:pt>
                <c:pt idx="8">
                  <c:v>1205005</c:v>
                </c:pt>
                <c:pt idx="9">
                  <c:v>1258681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Revenue</c:v>
                </c:pt>
              </c:strCache>
            </c:strRef>
          </c:tx>
          <c:spPr>
            <a:solidFill>
              <a:srgbClr val="3266AD"/>
            </a:solidFill>
            <a:ln w="25400" cap="flat">
              <a:solidFill>
                <a:srgbClr val="3266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266AD"/>
              </a:solidFill>
              <a:ln w="9525" cap="flat">
                <a:solidFill>
                  <a:srgbClr val="3266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Jan-17</c:v>
                  </c:pt>
                  <c:pt idx="1">
                    <c:v>Feb-17</c:v>
                  </c:pt>
                  <c:pt idx="2">
                    <c:v>Mar-17</c:v>
                  </c:pt>
                  <c:pt idx="3">
                    <c:v>Apr-17</c:v>
                  </c:pt>
                  <c:pt idx="4">
                    <c:v>May-17</c:v>
                  </c:pt>
                  <c:pt idx="5">
                    <c:v>Jun-17</c:v>
                  </c:pt>
                  <c:pt idx="6">
                    <c:v>Jul-17</c:v>
                  </c:pt>
                  <c:pt idx="7">
                    <c:v>Aug-17</c:v>
                  </c:pt>
                  <c:pt idx="8">
                    <c:v>Sep-17</c:v>
                  </c:pt>
                  <c:pt idx="9">
                    <c:v>Oct-17</c:v>
                  </c:pt>
                  <c:pt idx="10">
                    <c:v>Nov-17</c:v>
                  </c:pt>
                  <c:pt idx="11">
                    <c:v>Dec-17</c:v>
                  </c:pt>
                  <c:pt idx="12">
                    <c:v>Jan-18</c:v>
                  </c:pt>
                  <c:pt idx="13">
                    <c:v>Feb-18</c:v>
                  </c:pt>
                  <c:pt idx="14">
                    <c:v>Mar-18</c:v>
                  </c:pt>
                  <c:pt idx="15">
                    <c:v>Apr-18</c:v>
                  </c:pt>
                  <c:pt idx="16">
                    <c:v>May-18</c:v>
                  </c:pt>
                  <c:pt idx="17">
                    <c:v>Jun-18</c:v>
                  </c:pt>
                  <c:pt idx="18">
                    <c:v>Jul-18</c:v>
                  </c:pt>
                  <c:pt idx="19">
                    <c:v>Aug-18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138249</c:v>
                </c:pt>
                <c:pt idx="1">
                  <c:v>289960</c:v>
                </c:pt>
                <c:pt idx="2">
                  <c:v>449511</c:v>
                </c:pt>
                <c:pt idx="3">
                  <c:v>416419</c:v>
                </c:pt>
                <c:pt idx="4">
                  <c:v>592010</c:v>
                </c:pt>
                <c:pt idx="5">
                  <c:v>510613</c:v>
                </c:pt>
                <c:pt idx="6">
                  <c:v>591549</c:v>
                </c:pt>
                <c:pt idx="7">
                  <c:v>578006</c:v>
                </c:pt>
                <c:pt idx="8">
                  <c:v>571922</c:v>
                </c:pt>
                <c:pt idx="9">
                  <c:v>620720</c:v>
                </c:pt>
                <c:pt idx="10">
                  <c:v>1271039</c:v>
                </c:pt>
                <c:pt idx="11">
                  <c:v>510209</c:v>
                </c:pt>
                <c:pt idx="12">
                  <c:v>751008</c:v>
                </c:pt>
                <c:pt idx="13">
                  <c:v>722484</c:v>
                </c:pt>
                <c:pt idx="14">
                  <c:v>625209</c:v>
                </c:pt>
                <c:pt idx="15">
                  <c:v>611940</c:v>
                </c:pt>
                <c:pt idx="16">
                  <c:v>650042</c:v>
                </c:pt>
                <c:pt idx="17">
                  <c:v>612010</c:v>
                </c:pt>
                <c:pt idx="18">
                  <c:v>643200</c:v>
                </c:pt>
                <c:pt idx="19">
                  <c:v>604130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E67E22"/>
            </a:solidFill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Jan-17</c:v>
                  </c:pt>
                  <c:pt idx="1">
                    <c:v>Feb-17</c:v>
                  </c:pt>
                  <c:pt idx="2">
                    <c:v>Mar-17</c:v>
                  </c:pt>
                  <c:pt idx="3">
                    <c:v>Apr-17</c:v>
                  </c:pt>
                  <c:pt idx="4">
                    <c:v>May-17</c:v>
                  </c:pt>
                  <c:pt idx="5">
                    <c:v>Jun-17</c:v>
                  </c:pt>
                  <c:pt idx="6">
                    <c:v>Jul-17</c:v>
                  </c:pt>
                  <c:pt idx="7">
                    <c:v>Aug-17</c:v>
                  </c:pt>
                  <c:pt idx="8">
                    <c:v>Sep-17</c:v>
                  </c:pt>
                  <c:pt idx="9">
                    <c:v>Oct-17</c:v>
                  </c:pt>
                  <c:pt idx="10">
                    <c:v>Nov-17</c:v>
                  </c:pt>
                  <c:pt idx="11">
                    <c:v>Dec-17</c:v>
                  </c:pt>
                  <c:pt idx="12">
                    <c:v>Jan-18</c:v>
                  </c:pt>
                  <c:pt idx="13">
                    <c:v>Feb-18</c:v>
                  </c:pt>
                  <c:pt idx="14">
                    <c:v>Mar-18</c:v>
                  </c:pt>
                  <c:pt idx="15">
                    <c:v>Apr-18</c:v>
                  </c:pt>
                  <c:pt idx="16">
                    <c:v>May-18</c:v>
                  </c:pt>
                  <c:pt idx="17">
                    <c:v>Jun-18</c:v>
                  </c:pt>
                  <c:pt idx="18">
                    <c:v>Jul-18</c:v>
                  </c:pt>
                  <c:pt idx="19">
                    <c:v>Aug-18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604130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114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CADCFC"/>
                </a:solidFill>
              </a:rPr>
              <a:t>CONFIDENTIAL — STRATEGY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Report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3063240"/>
            <a:ext cx="22860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46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Swarnadeep Chatterjee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 |   Data Analytics &amp; MBA Candidate   |   University of Louisville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100K+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Orders Analysed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93,344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Customers Segmented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SQL Tables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49440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Analytical Phases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66AD"/>
                </a:solidFill>
              </a:rPr>
              <a:t>THE SITUATION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Olist is Brazil's largest e-commerce marketplace — but growth is masking serious problems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9339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1993392" cy="54864"/>
          </a:xfrm>
          <a:prstGeom prst="rect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6AD"/>
                </a:solidFill>
              </a:rPr>
              <a:t>The business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Olist connects 3,000+ small sellers to customers across Brazil through a single storefront on major marketplaces.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33472" y="1417320"/>
            <a:ext cx="199339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33472" y="1417320"/>
            <a:ext cx="1993392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0632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The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70632" y="196596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9 relational tables covering 100K+ orders, 93K customers, payments, reviews, and logistics from 2016–2018.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9744" y="1417320"/>
            <a:ext cx="199339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9744" y="1417320"/>
            <a:ext cx="1993392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46904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The growth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46904" y="196596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Revenue grew from near zero in late 2016 to $35K/day by 2018 — a remarkable trajectory in under 2 years.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86016" y="1417320"/>
            <a:ext cx="199339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86016" y="1417320"/>
            <a:ext cx="199339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23176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23176" y="196596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Despite strong growth, customer retention is near zero, late deliveries are rising, and satisfaction scores are falling.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THE COMPLICATION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critical problems are threatening Olist's long-term growth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06040" cy="338328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Customer Retention Crisis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392B"/>
                </a:solidFill>
              </a:rPr>
              <a:t>1.03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avg orders per customer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56% of 93,344 customers are Lost or At Risk. Almost nobody comes back for a second purchase.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06040" cy="338328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7E22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Logistics Breakdown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7E22"/>
                </a:solidFill>
              </a:rPr>
              <a:t>18%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8328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late delivery rate (peak)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33832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Late deliveries spike to 18% during high-volume months. The infrastructure breaks under pressure.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06040" cy="338328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1920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Satisfaction Collapse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4C3C"/>
                </a:solidFill>
              </a:rPr>
              <a:t>2.27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1792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avg review score when late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33832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Late deliveries cut customer satisfaction nearly in half — from 4.29 to 2.27 (proven at p&lt;0.0001).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66AD"/>
                </a:solidFill>
              </a:rPr>
              <a:t>FINDING 1 — REVENUE &amp; GROWTH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Health &amp; Beauty leads at $1.25M — but revenue growth masks a seasonal fragility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234440"/>
            <a:ext cx="2743200" cy="105156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1234440"/>
            <a:ext cx="64008" cy="1051560"/>
          </a:xfrm>
          <a:prstGeom prst="rect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6AD"/>
                </a:solidFill>
              </a:rPr>
              <a:t>$1.25M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309360" y="17647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Health &amp; Beauty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(top category)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2468880"/>
            <a:ext cx="2743200" cy="105156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0" y="2468880"/>
            <a:ext cx="64008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AE60"/>
                </a:solidFill>
              </a:rPr>
              <a:t>4×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309360" y="29992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 growth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Jan–Jul 2017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3703320"/>
            <a:ext cx="2743200" cy="105156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3703320"/>
            <a:ext cx="64008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7E22"/>
                </a:solidFill>
              </a:rPr>
              <a:t>Nov '17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309360" y="4233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Black Friday peak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$175K in one day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66AD"/>
                </a:solidFill>
              </a:rPr>
              <a:t>FINDING 2 — CUSTOMER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56% of customers are Lost or At Risk — a $510K revenue recovery opportunity sits untouched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Champions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23160" y="1234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8,887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20440" y="1298448"/>
            <a:ext cx="36576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1298448"/>
            <a:ext cx="365760" cy="2377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10%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09560" y="1234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$270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Loyal Customers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14,494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1984248"/>
            <a:ext cx="36576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984248"/>
            <a:ext cx="585216" cy="237744"/>
          </a:xfrm>
          <a:prstGeom prst="rect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6AD"/>
                </a:solidFill>
              </a:rPr>
              <a:t>16%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09560" y="1920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$219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Potential Loyalists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060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17,420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20440" y="2670048"/>
            <a:ext cx="36576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2670048"/>
            <a:ext cx="694944" cy="23774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</a:rPr>
              <a:t>19%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26060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$109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At Risk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291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23,294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3355848"/>
            <a:ext cx="36576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0440" y="3355848"/>
            <a:ext cx="914400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3291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25%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291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$163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3977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29,249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20440" y="4041648"/>
            <a:ext cx="36576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4041648"/>
            <a:ext cx="1133856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3977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31%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09560" y="3977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$142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617720"/>
            <a:ext cx="8412480" cy="384048"/>
          </a:xfrm>
          <a:prstGeom prst="rect">
            <a:avLst/>
          </a:prstGeom>
          <a:solidFill>
            <a:srgbClr val="EAF3DE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66344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Revenue opportunity: If 10% of At Risk customers are converted to Loyal → $510,139 additional revenue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0392B"/>
                </a:solidFill>
              </a:rPr>
              <a:t>FINDING 3 — OPERATIONS &amp; DELIVERY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Late deliveries are statistically proven to destroy customer satisfaction (p &lt; 0.0001)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66AD"/>
                </a:solidFill>
              </a:rPr>
              <a:t>ON-TIME DELIVERY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7AE60"/>
                </a:solidFill>
              </a:rPr>
              <a:t>4.29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Average review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70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89,935 orders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9319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392B"/>
                </a:solidFill>
              </a:rPr>
              <a:t>LATE DELIVERY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66420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0392B"/>
                </a:solidFill>
              </a:rPr>
              <a:t>2.27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937760" y="2487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Average review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770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6,410 orders  |  t=132.04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▼ 2.02 pts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673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</a:rPr>
              <a:t>66%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41879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of orders arrive 10+ days early — Olist pads delivery estimates instead of fixing logistics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3703320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7673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</a:rPr>
              <a:t>18%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29000" y="41879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late delivery rate in March 2018 — logistics collapses under Black Friday and Q1 demand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3703320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7673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</a:rPr>
              <a:t>SP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41879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São Paulo sellers dominate top 10 revenue — concentration risk if SP corridor fails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66AD"/>
                </a:solidFill>
              </a:rPr>
              <a:t>FINDING 4 — DEMAND FORECASTING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$3.2M projected over the next 90 days — Black Friday 2018 will demand 7× normal logistics capacity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188720"/>
            <a:ext cx="2560320" cy="77724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09360" y="1188720"/>
            <a:ext cx="64008" cy="777240"/>
          </a:xfrm>
          <a:prstGeom prst="rect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12344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66AD"/>
                </a:solidFill>
              </a:rPr>
              <a:t>$3.2M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92240" y="16276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90-day forecast  —  total projected revenue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09360" y="2084832"/>
            <a:ext cx="2560320" cy="77724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2084832"/>
            <a:ext cx="64008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13055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$35.6K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92240" y="25237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Daily avg forecast  —  +41% vs historical avg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09360" y="2980944"/>
            <a:ext cx="2560320" cy="77724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2980944"/>
            <a:ext cx="6400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302666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</a:rPr>
              <a:t>7×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492240" y="34198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Black Friday spike  —  above daily average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309360" y="3877056"/>
            <a:ext cx="2560320" cy="77724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0" y="3877056"/>
            <a:ext cx="64008" cy="7772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39227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44AD"/>
                </a:solidFill>
              </a:rPr>
              <a:t>Monday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492240" y="43159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Peak week day  —  highest order volume day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high-impact interventions — prioritised by revenue potential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502920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7AE60"/>
                </a:solidFill>
              </a:rPr>
              <a:t>HIGHEST PRIORITY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Fix delivery date estimates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Reduce padding from 10+ days to 3–5 days. Customers value accuracy over false promises. This costs nothing to implement and directly improves satisfaction scores.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720840" y="15819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Impact: Review score lift from 2.27 → 3.5+ est.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68880"/>
            <a:ext cx="502920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889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560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7E22"/>
                </a:solidFill>
              </a:rPr>
              <a:t>HIGH PRIORITY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05840" y="27432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Launch At Risk win-back campaign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063240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Target 23,294 At Risk customers with personalised discount + free shipping offer within 30 days. Converting 10% recovers $510K in revenue immediately.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20840" y="2816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7E22"/>
                </a:solidFill>
              </a:rPr>
              <a:t>Impact: $510K revenue recovery opportunity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841248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03320"/>
            <a:ext cx="502920" cy="1115568"/>
          </a:xfrm>
          <a:prstGeom prst="rect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23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794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266AD"/>
                </a:solidFill>
              </a:rPr>
              <a:t>HIGH PRIORITY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3977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Pre-build Black Friday logistics capacity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297680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November 2018 will spike order volume 7×. Current infrastructure produced an 18% late delivery rate under similar pressure in 2017. Plan 6 weeks ahead.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20840" y="40507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266AD"/>
                </a:solidFill>
              </a:rPr>
              <a:t>Impact: Prevent recurrence of 18% late rate spike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66AD"/>
                </a:solidFill>
              </a:rPr>
              <a:t>FINANCIAL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Quantified upside from implementing all three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5176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Customer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Retention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7AE60"/>
                </a:solidFill>
              </a:rPr>
              <a:t>$510K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additional revenue from converting 10% of At Risk customers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07408"/>
            <a:ext cx="2286000" cy="91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4622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23,294 × 10% × $219 avg spend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25880"/>
            <a:ext cx="2651760" cy="64008"/>
          </a:xfrm>
          <a:prstGeom prst="rect">
            <a:avLst/>
          </a:prstGeom>
          <a:solidFill>
            <a:srgbClr val="3266AD"/>
          </a:solidFill>
          <a:ln w="12700">
            <a:solidFill>
              <a:srgbClr val="3266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463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Delivery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Improvements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266AD"/>
                </a:solidFill>
              </a:rPr>
              <a:t>+2.0pts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7472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review score recovery from fixing late deliveries — drives seller ranking and repeat orders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4407408"/>
            <a:ext cx="2286000" cy="91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44622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4.29 (on-time) vs 2.27 (late)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25880"/>
            <a:ext cx="265176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463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Black Friday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Preparation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103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7E22"/>
                </a:solidFill>
              </a:rPr>
              <a:t>$3.2M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forecasted 90-day revenue at risk if logistics capacity is not pre-built for November spike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4407408"/>
            <a:ext cx="2286000" cy="91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4622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7× avg daily revenue expected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773168"/>
            <a:ext cx="8412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80060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Combined addressable impact: $510K direct revenue + $3.2M protected forecast + measurable satisfaction recovery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Olist has the growth — it now needs the infrastructure to protect 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01168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64008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data speaks clearly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100K orders, 93K customers, and 2 years of transactions reveal a business with strong growth but fragile foundations.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64008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Three problems, three fixes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0632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Delivery padding, customer churn, and logistics surge capacity are all fixable — and all quantified in this report.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64008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opportunity is now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0690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Black Friday 2018 is the test. Pre-build capacity, launch the retention campaign, and fix delivery estimates before November.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7914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99CC"/>
                </a:solidFill>
              </a:rPr>
              <a:t>Swarnadeep Chatterjee</a:t>
            </a:r>
            <a:pPr algn="l" indent="0" marL="0">
              <a:buNone/>
            </a:pPr>
            <a:r>
              <a:rPr lang="en-US" sz="900" dirty="0">
                <a:solidFill>
                  <a:srgbClr val="8899CC"/>
                </a:solidFill>
              </a:rPr>
              <a:t>   |   MBA Candidate, University of Louisville   |   Data Analytics Professional   |   </a:t>
            </a:r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github.com/swarnadeepchatterjee02-glitch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Business Intelligence &amp; Strategy Report</dc:title>
  <dc:subject>PptxGenJS Presentation</dc:subject>
  <dc:creator>PptxGenJS</dc:creator>
  <cp:lastModifiedBy>PptxGenJS</cp:lastModifiedBy>
  <cp:revision>1</cp:revision>
  <dcterms:created xsi:type="dcterms:W3CDTF">2026-04-21T17:20:02Z</dcterms:created>
  <dcterms:modified xsi:type="dcterms:W3CDTF">2026-04-21T17:20:02Z</dcterms:modified>
</cp:coreProperties>
</file>